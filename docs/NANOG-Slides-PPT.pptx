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3581701" y="2285999"/>
            <a:ext cx="5028293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400">
                <a:solidFill>
                  <a:srgbClr val="0066CC"/>
                </a:solidFill>
              </a:defRPr>
            </a:lvl1pPr>
          </a:lstStyle>
          <a:p>
            <a:pPr/>
            <a:r>
              <a:t>Peer Risk Intelligence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3701731" y="3383279"/>
            <a:ext cx="4788233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800">
                <a:solidFill>
                  <a:srgbClr val="666666"/>
                </a:solidFill>
              </a:defRPr>
            </a:lvl1pPr>
          </a:lstStyle>
          <a:p>
            <a:pPr/>
            <a:r>
              <a:t>Should You Peer With That ASN?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 txBox="1"/>
          <p:nvPr/>
        </p:nvSpPr>
        <p:spPr>
          <a:xfrm>
            <a:off x="502919" y="365759"/>
            <a:ext cx="22472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98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3"/>
          <p:cNvSpPr txBox="1"/>
          <p:nvPr/>
        </p:nvSpPr>
        <p:spPr>
          <a:xfrm>
            <a:off x="502919" y="1280160"/>
            <a:ext cx="11185857" cy="2475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• "Is this network safe to peer with?"</a:t>
            </a:r>
          </a:p>
          <a:p>
            <a:pPr>
              <a:spcBef>
                <a:spcPts val="1200"/>
              </a:spcBef>
              <a:defRPr sz="2400"/>
            </a:pPr>
            <a:r>
              <a:t>• Peering decisions based on PeeringDB + gut feel</a:t>
            </a:r>
          </a:p>
          <a:p>
            <a:pPr>
              <a:spcBef>
                <a:spcPts val="1200"/>
              </a:spcBef>
              <a:defRPr sz="2400"/>
            </a:pPr>
            <a:r>
              <a:t>• No visibility into routing behavior before peering</a:t>
            </a:r>
          </a:p>
          <a:p>
            <a:pPr>
              <a:spcBef>
                <a:spcPts val="1200"/>
              </a:spcBef>
              <a:defRPr sz="2400"/>
            </a:pPr>
            <a:r>
              <a:t>• Discover problems after the BGP session is up</a:t>
            </a:r>
          </a:p>
          <a:p>
            <a:pPr>
              <a:spcBef>
                <a:spcPts val="1200"/>
              </a:spcBef>
              <a:defRPr sz="2400"/>
            </a:pPr>
            <a:r>
              <a:t>• Route leaks and hijacks from peers are expensive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502919" y="365759"/>
            <a:ext cx="758086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Real Example: Cloudflare 1.1.1.1 (June 2024)</a:t>
            </a:r>
          </a:p>
        </p:txBody>
      </p:sp>
      <p:sp>
        <p:nvSpPr>
          <p:cNvPr id="102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3"/>
          <p:cNvSpPr txBox="1"/>
          <p:nvPr/>
        </p:nvSpPr>
        <p:spPr>
          <a:xfrm>
            <a:off x="502919" y="1280160"/>
            <a:ext cx="11185857" cy="1954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• AS267613 (Eletronet) announced 1.1.1.1/32</a:t>
            </a:r>
          </a:p>
          <a:p>
            <a:pPr>
              <a:spcBef>
                <a:spcPts val="1200"/>
              </a:spcBef>
              <a:defRPr sz="2400"/>
            </a:pPr>
            <a:r>
              <a:t>• AS262504 leaked 1.1.1.0/24 to upstreams</a:t>
            </a:r>
          </a:p>
          <a:p>
            <a:pPr>
              <a:spcBef>
                <a:spcPts val="1200"/>
              </a:spcBef>
              <a:defRPr sz="2400"/>
            </a:pPr>
            <a:r>
              <a:t>• Affected traffic for 7+ hours</a:t>
            </a:r>
          </a:p>
          <a:p>
            <a:pPr>
              <a:spcBef>
                <a:spcPts val="1200"/>
              </a:spcBef>
              <a:defRPr sz="2400"/>
            </a:pPr>
            <a:r>
              <a:t>• Would you have peered with AS267613?</a:t>
            </a:r>
          </a:p>
        </p:txBody>
      </p:sp>
      <p:sp>
        <p:nvSpPr>
          <p:cNvPr id="104" name="Rectangle 4"/>
          <p:cNvSpPr/>
          <p:nvPr/>
        </p:nvSpPr>
        <p:spPr>
          <a:xfrm>
            <a:off x="457199" y="3474720"/>
            <a:ext cx="11277297" cy="731521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5"/>
          <p:cNvSpPr txBox="1"/>
          <p:nvPr/>
        </p:nvSpPr>
        <p:spPr>
          <a:xfrm>
            <a:off x="685800" y="3611879"/>
            <a:ext cx="713213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Question: Could we have known this network was risky before the incident?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 txBox="1"/>
          <p:nvPr/>
        </p:nvSpPr>
        <p:spPr>
          <a:xfrm>
            <a:off x="502919" y="365759"/>
            <a:ext cx="466760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Introducing Route Sherlock</a:t>
            </a:r>
          </a:p>
        </p:txBody>
      </p:sp>
      <p:sp>
        <p:nvSpPr>
          <p:cNvPr id="108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3"/>
          <p:cNvSpPr txBox="1"/>
          <p:nvPr/>
        </p:nvSpPr>
        <p:spPr>
          <a:xfrm>
            <a:off x="502919" y="1280160"/>
            <a:ext cx="11185857" cy="1433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• Open-source CLI tool for Peer Risk Intelligence</a:t>
            </a:r>
          </a:p>
          <a:p>
            <a:pPr>
              <a:spcBef>
                <a:spcPts val="1200"/>
              </a:spcBef>
              <a:defRPr sz="2400"/>
            </a:pPr>
            <a:r>
              <a:t>• Data: RIPEstat + PeeringDB + BGPStream + Claude AI</a:t>
            </a:r>
          </a:p>
          <a:p>
            <a:pPr>
              <a:spcBef>
                <a:spcPts val="1200"/>
              </a:spcBef>
              <a:defRPr sz="2400"/>
            </a:pPr>
            <a:r>
              <a:t>• Features: Risk scoring, backtesting, IX overlap, AI reports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 txBox="1"/>
          <p:nvPr/>
        </p:nvSpPr>
        <p:spPr>
          <a:xfrm>
            <a:off x="502919" y="365759"/>
            <a:ext cx="255147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The Command</a:t>
            </a:r>
          </a:p>
        </p:txBody>
      </p:sp>
      <p:sp>
        <p:nvSpPr>
          <p:cNvPr id="112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Rounded Rectangle 3"/>
          <p:cNvSpPr/>
          <p:nvPr/>
        </p:nvSpPr>
        <p:spPr>
          <a:xfrm>
            <a:off x="457200" y="1280160"/>
            <a:ext cx="11277296" cy="2286001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4"/>
          <p:cNvSpPr txBox="1"/>
          <p:nvPr/>
        </p:nvSpPr>
        <p:spPr>
          <a:xfrm>
            <a:off x="685800" y="1463038"/>
            <a:ext cx="10881361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route-sherlock peer-risk AS64500</a:t>
            </a:r>
            <a:br/>
            <a:br/>
            <a:r>
              <a:t># Options:</a:t>
            </a:r>
            <a:br/>
            <a:r>
              <a:t>$ route-sherlock peer-risk AS64500 --my-asn AS13335  # IX overlap</a:t>
            </a:r>
            <a:br/>
            <a:r>
              <a:t>$ route-sherlock peer-risk AS64500 --days 180        # Extended history</a:t>
            </a:r>
            <a:br/>
            <a:r>
              <a:t>$ route-sherlock peer-risk AS64500 --ai              # AI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 txBox="1"/>
          <p:nvPr/>
        </p:nvSpPr>
        <p:spPr>
          <a:xfrm>
            <a:off x="502919" y="365759"/>
            <a:ext cx="619994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Demo: Scoring Cloudflare (AS13335)</a:t>
            </a:r>
          </a:p>
        </p:txBody>
      </p:sp>
      <p:sp>
        <p:nvSpPr>
          <p:cNvPr id="117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ounded Rectangle 3"/>
          <p:cNvSpPr/>
          <p:nvPr/>
        </p:nvSpPr>
        <p:spPr>
          <a:xfrm>
            <a:off x="457200" y="1280160"/>
            <a:ext cx="11277296" cy="2286001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4"/>
          <p:cNvSpPr txBox="1"/>
          <p:nvPr/>
        </p:nvSpPr>
        <p:spPr>
          <a:xfrm>
            <a:off x="685800" y="1463038"/>
            <a:ext cx="10881361" cy="192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route-sherlock peer-risk AS13335</a:t>
            </a:r>
            <a:br/>
            <a:br/>
            <a:r>
              <a:t>+==================== Peer Risk Score ====================+</a:t>
            </a:r>
            <a:br/>
            <a:r>
              <a:t>| 100/100 (100.0%)                                        |</a:t>
            </a:r>
            <a:br/>
            <a:r>
              <a:t>| Risk Level: LOW                                         |</a:t>
            </a:r>
            <a:br/>
            <a:r>
              <a:t>| Recommendation: RECOMMENDED                             |</a:t>
            </a:r>
            <a:br/>
            <a:r>
              <a:t>+=========================================================+</a:t>
            </a:r>
            <a:br/>
            <a:br/>
            <a:r>
              <a:t>Network: CLOUDFLARENET | Policy: Open | IXes: 350</a:t>
            </a:r>
          </a:p>
        </p:txBody>
      </p:sp>
      <p:sp>
        <p:nvSpPr>
          <p:cNvPr id="120" name="Rectangle 5"/>
          <p:cNvSpPr/>
          <p:nvPr/>
        </p:nvSpPr>
        <p:spPr>
          <a:xfrm>
            <a:off x="457199" y="3749038"/>
            <a:ext cx="11277297" cy="731522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6"/>
          <p:cNvSpPr txBox="1"/>
          <p:nvPr/>
        </p:nvSpPr>
        <p:spPr>
          <a:xfrm>
            <a:off x="685800" y="3886199"/>
            <a:ext cx="258324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Perfect score - safe to peer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 txBox="1"/>
          <p:nvPr/>
        </p:nvSpPr>
        <p:spPr>
          <a:xfrm>
            <a:off x="502919" y="365759"/>
            <a:ext cx="62223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Demo: Scoring Eletronet (AS267613)</a:t>
            </a:r>
          </a:p>
        </p:txBody>
      </p:sp>
      <p:sp>
        <p:nvSpPr>
          <p:cNvPr id="124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ounded Rectangle 3"/>
          <p:cNvSpPr/>
          <p:nvPr/>
        </p:nvSpPr>
        <p:spPr>
          <a:xfrm>
            <a:off x="457200" y="1280160"/>
            <a:ext cx="11277296" cy="2286001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4"/>
          <p:cNvSpPr txBox="1"/>
          <p:nvPr/>
        </p:nvSpPr>
        <p:spPr>
          <a:xfrm>
            <a:off x="685800" y="1463038"/>
            <a:ext cx="10881361" cy="212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route-sherlock peer-risk AS267613</a:t>
            </a:r>
            <a:br/>
            <a:br/>
            <a:r>
              <a:t>+==================== Peer Risk Score ====================+</a:t>
            </a:r>
            <a:br/>
            <a:r>
              <a:t>| 72/100 (72.0%)                                          |</a:t>
            </a:r>
            <a:br/>
            <a:r>
              <a:t>| Risk Level: MODERATE                                    |</a:t>
            </a:r>
            <a:br/>
            <a:r>
              <a:t>| Recommendation: ACCEPTABLE WITH MONITORING              |</a:t>
            </a:r>
            <a:br/>
            <a:r>
              <a:t>+=========================================================+</a:t>
            </a:r>
            <a:br/>
            <a:br/>
            <a:r>
              <a:t>Stability: 5/30 - High churn: 1637 updates/day (-25)</a:t>
            </a:r>
            <a:br/>
            <a:r>
              <a:t>Warning: High BGP churn detected</a:t>
            </a:r>
          </a:p>
        </p:txBody>
      </p:sp>
      <p:sp>
        <p:nvSpPr>
          <p:cNvPr id="127" name="Rectangle 5"/>
          <p:cNvSpPr/>
          <p:nvPr/>
        </p:nvSpPr>
        <p:spPr>
          <a:xfrm>
            <a:off x="457199" y="3749038"/>
            <a:ext cx="11277297" cy="731522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6"/>
          <p:cNvSpPr txBox="1"/>
          <p:nvPr/>
        </p:nvSpPr>
        <p:spPr>
          <a:xfrm>
            <a:off x="685800" y="3886199"/>
            <a:ext cx="37124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Flagged BEFORE the incident occurred!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 txBox="1"/>
          <p:nvPr/>
        </p:nvSpPr>
        <p:spPr>
          <a:xfrm>
            <a:off x="502919" y="365759"/>
            <a:ext cx="522541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Scoring Algorithm (100 points)</a:t>
            </a:r>
          </a:p>
        </p:txBody>
      </p:sp>
      <p:sp>
        <p:nvSpPr>
          <p:cNvPr id="131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32" name="Table 3"/>
          <p:cNvGraphicFramePr/>
          <p:nvPr/>
        </p:nvGraphicFramePr>
        <p:xfrm>
          <a:off x="457200" y="1371600"/>
          <a:ext cx="11277296" cy="27432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What We Check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Maturity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20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PeeringDB presence, IRR as-set, policy URL, IX count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Stability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30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BGP update frequency (churn detection)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Incident History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30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Upstream diversity, topology redundancy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Policy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10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Open (+10), Selective (+7), Restrictive (+3)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Security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10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IRR registration, transit relationships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 txBox="1"/>
          <p:nvPr/>
        </p:nvSpPr>
        <p:spPr>
          <a:xfrm>
            <a:off x="502919" y="365759"/>
            <a:ext cx="553359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Risk Levels &amp; Recommendations</a:t>
            </a:r>
          </a:p>
        </p:txBody>
      </p:sp>
      <p:sp>
        <p:nvSpPr>
          <p:cNvPr id="135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36" name="Table 3"/>
          <p:cNvGraphicFramePr/>
          <p:nvPr/>
        </p:nvGraphicFramePr>
        <p:xfrm>
          <a:off x="457200" y="1371600"/>
          <a:ext cx="11277296" cy="22860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Risk Level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80-100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LOW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Recommended - standard peering process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60-79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MODERATE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Acceptable - implement monitoring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40-59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ELEVATED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Caution - strict prefix limits, IRR filtering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0-39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HIGH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Not recommended - decline or require remediation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 txBox="1"/>
          <p:nvPr/>
        </p:nvSpPr>
        <p:spPr>
          <a:xfrm>
            <a:off x="502919" y="365759"/>
            <a:ext cx="6250148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Stability Score: BGP Churn Detection</a:t>
            </a:r>
          </a:p>
        </p:txBody>
      </p:sp>
      <p:sp>
        <p:nvSpPr>
          <p:cNvPr id="139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3"/>
          <p:cNvSpPr txBox="1"/>
          <p:nvPr/>
        </p:nvSpPr>
        <p:spPr>
          <a:xfrm>
            <a:off x="502919" y="1280160"/>
            <a:ext cx="11185857" cy="1954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• Query RIPEstat for BGP updates over time</a:t>
            </a:r>
          </a:p>
          <a:p>
            <a:pPr>
              <a:spcBef>
                <a:spcPts val="1200"/>
              </a:spcBef>
              <a:defRPr sz="2400"/>
            </a:pPr>
            <a:r>
              <a:t>• Calculate updates per day average</a:t>
            </a:r>
          </a:p>
          <a:p>
            <a:pPr>
              <a:spcBef>
                <a:spcPts val="1200"/>
              </a:spcBef>
              <a:defRPr sz="2400"/>
            </a:pPr>
            <a:r>
              <a:t>• Thresholds: &lt;10/day stable, &gt;100/day high churn</a:t>
            </a:r>
          </a:p>
          <a:p>
            <a:pPr>
              <a:spcBef>
                <a:spcPts val="1200"/>
              </a:spcBef>
              <a:defRPr sz="2400"/>
            </a:pPr>
            <a:r>
              <a:t>• AS267613 had 1,637 updates/day = 5/30 score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 txBox="1"/>
          <p:nvPr/>
        </p:nvSpPr>
        <p:spPr>
          <a:xfrm>
            <a:off x="502919" y="365759"/>
            <a:ext cx="332974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IX Overlap Analysis</a:t>
            </a:r>
          </a:p>
        </p:txBody>
      </p:sp>
      <p:sp>
        <p:nvSpPr>
          <p:cNvPr id="143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Rounded Rectangle 3"/>
          <p:cNvSpPr/>
          <p:nvPr/>
        </p:nvSpPr>
        <p:spPr>
          <a:xfrm>
            <a:off x="457200" y="1280160"/>
            <a:ext cx="11277296" cy="2286001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4"/>
          <p:cNvSpPr txBox="1"/>
          <p:nvPr/>
        </p:nvSpPr>
        <p:spPr>
          <a:xfrm>
            <a:off x="685800" y="1463038"/>
            <a:ext cx="10881361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route-sherlock peer-risk AS15169 --my-asn AS13335</a:t>
            </a:r>
            <a:br/>
            <a:br/>
            <a:r>
              <a:t>## IX Overlap</a:t>
            </a:r>
            <a:br/>
            <a:r>
              <a:t>   Common IXes: 164</a:t>
            </a:r>
            <a:br/>
            <a:r>
              <a:t>   Your IXes: 350 | Target IXes: 198</a:t>
            </a:r>
            <a:br/>
            <a:r>
              <a:t>   Can peer at 164 location(s)</a:t>
            </a:r>
          </a:p>
        </p:txBody>
      </p:sp>
      <p:sp>
        <p:nvSpPr>
          <p:cNvPr id="146" name="Rectangle 5"/>
          <p:cNvSpPr/>
          <p:nvPr/>
        </p:nvSpPr>
        <p:spPr>
          <a:xfrm>
            <a:off x="457199" y="3749038"/>
            <a:ext cx="11277297" cy="731522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6"/>
          <p:cNvSpPr txBox="1"/>
          <p:nvPr/>
        </p:nvSpPr>
        <p:spPr>
          <a:xfrm>
            <a:off x="685800" y="3886199"/>
            <a:ext cx="61957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Instantly see where you can peer - useful for peering coordinators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 txBox="1"/>
          <p:nvPr/>
        </p:nvSpPr>
        <p:spPr>
          <a:xfrm>
            <a:off x="502919" y="365759"/>
            <a:ext cx="371868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Historical Backtesting</a:t>
            </a:r>
          </a:p>
        </p:txBody>
      </p:sp>
      <p:sp>
        <p:nvSpPr>
          <p:cNvPr id="150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Rounded Rectangle 3"/>
          <p:cNvSpPr/>
          <p:nvPr/>
        </p:nvSpPr>
        <p:spPr>
          <a:xfrm>
            <a:off x="457200" y="1280160"/>
            <a:ext cx="11277296" cy="2286001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4"/>
          <p:cNvSpPr txBox="1"/>
          <p:nvPr/>
        </p:nvSpPr>
        <p:spPr>
          <a:xfrm>
            <a:off x="685800" y="1463038"/>
            <a:ext cx="10881361" cy="171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route-sherlock backtest 1.1.1.0/24 --origin AS13335 \</a:t>
            </a:r>
            <a:br/>
            <a:r>
              <a:t>    --time "2024-06-27 18:00" --duration 8h</a:t>
            </a:r>
            <a:br/>
            <a:br/>
            <a:r>
              <a:t>Anomalies Detected: 329</a:t>
            </a:r>
            <a:br/>
            <a:br/>
            <a:r>
              <a:t>#1 [HIGH] ROUTE LEAK</a:t>
            </a:r>
            <a:br/>
            <a:r>
              <a:t>   Time: 2024-06-27T18:49:06</a:t>
            </a:r>
            <a:br/>
            <a:r>
              <a:t>   AS Path: 50763 &gt; 1031 &gt; 262504 &gt; 267613 &gt; 13335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 txBox="1"/>
          <p:nvPr/>
        </p:nvSpPr>
        <p:spPr>
          <a:xfrm>
            <a:off x="502919" y="365759"/>
            <a:ext cx="4124287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Validation: Did It Work?</a:t>
            </a:r>
          </a:p>
        </p:txBody>
      </p:sp>
      <p:sp>
        <p:nvSpPr>
          <p:cNvPr id="155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3"/>
          <p:cNvSpPr txBox="1"/>
          <p:nvPr/>
        </p:nvSpPr>
        <p:spPr>
          <a:xfrm>
            <a:off x="502919" y="1280160"/>
            <a:ext cx="11185857" cy="1954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• Cloudflare reported: Incident started ~18:51 UTC</a:t>
            </a:r>
          </a:p>
          <a:p>
            <a:pPr>
              <a:spcBef>
                <a:spcPts val="1200"/>
              </a:spcBef>
              <a:defRPr sz="2400"/>
            </a:pPr>
            <a:r>
              <a:t>• Route Sherlock found: First anomaly 18:49:06 UTC</a:t>
            </a:r>
          </a:p>
          <a:p>
            <a:pPr>
              <a:spcBef>
                <a:spcPts val="1200"/>
              </a:spcBef>
              <a:defRPr sz="2400"/>
            </a:pPr>
            <a:r>
              <a:t>• Correctly identified AS267613 and AS262504</a:t>
            </a:r>
          </a:p>
          <a:p>
            <a:pPr>
              <a:spcBef>
                <a:spcPts val="1200"/>
              </a:spcBef>
              <a:defRPr sz="2400"/>
            </a:pPr>
            <a:r>
              <a:t>• Duration match: 7.6 hours vs 7.5 hours reported</a:t>
            </a:r>
          </a:p>
        </p:txBody>
      </p:sp>
      <p:sp>
        <p:nvSpPr>
          <p:cNvPr id="157" name="Rectangle 4"/>
          <p:cNvSpPr/>
          <p:nvPr/>
        </p:nvSpPr>
        <p:spPr>
          <a:xfrm>
            <a:off x="457199" y="3474720"/>
            <a:ext cx="11277297" cy="731521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5"/>
          <p:cNvSpPr txBox="1"/>
          <p:nvPr/>
        </p:nvSpPr>
        <p:spPr>
          <a:xfrm>
            <a:off x="685800" y="3611879"/>
            <a:ext cx="567369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Detected 2 minutes BEFORE Cloudflare's reported start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"/>
          <p:cNvSpPr txBox="1"/>
          <p:nvPr/>
        </p:nvSpPr>
        <p:spPr>
          <a:xfrm>
            <a:off x="502919" y="365759"/>
            <a:ext cx="536214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AI-Powered Analysis (Optional)</a:t>
            </a:r>
          </a:p>
        </p:txBody>
      </p:sp>
      <p:sp>
        <p:nvSpPr>
          <p:cNvPr id="161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Rounded Rectangle 3"/>
          <p:cNvSpPr/>
          <p:nvPr/>
        </p:nvSpPr>
        <p:spPr>
          <a:xfrm>
            <a:off x="457200" y="1280160"/>
            <a:ext cx="11277296" cy="2286001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4"/>
          <p:cNvSpPr txBox="1"/>
          <p:nvPr/>
        </p:nvSpPr>
        <p:spPr>
          <a:xfrm>
            <a:off x="685800" y="1463038"/>
            <a:ext cx="10881361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$ route-sherlock peer-risk AS267613 --ai</a:t>
            </a:r>
            <a:br/>
            <a:br/>
            <a:r>
              <a:t>+--------------- AI-Generated Risk Assessment ---------------+</a:t>
            </a:r>
            <a:br/>
            <a:r>
              <a:t>| Executive Summary:                                         |</a:t>
            </a:r>
            <a:br/>
            <a:r>
              <a:t>| Conditional peer. AS267613 shows concerning stability      |</a:t>
            </a:r>
            <a:br/>
            <a:r>
              <a:t>| metrics with 1,637 BGP updates/day.                        |</a:t>
            </a:r>
            <a:br/>
            <a:r>
              <a:t>|                                                            |</a:t>
            </a:r>
            <a:br/>
            <a:r>
              <a:t>| Technical Safeguards:                                      |</a:t>
            </a:r>
            <a:br/>
            <a:r>
              <a:t>| - Max-prefix limit: 15 (they announce 7 prefixes)          |</a:t>
            </a:r>
            <a:br/>
            <a:r>
              <a:t>| - Require IRR filtering against RADB::AS-267613            |</a:t>
            </a:r>
            <a:br/>
            <a:r>
              <a:t>| - Enable RPKI-invalid rejection                            |</a:t>
            </a:r>
            <a:br/>
            <a:r>
              <a:t>+------------------------------------------------------------+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 txBox="1"/>
          <p:nvPr/>
        </p:nvSpPr>
        <p:spPr>
          <a:xfrm>
            <a:off x="502919" y="365759"/>
            <a:ext cx="3806985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How Is This Different?</a:t>
            </a:r>
          </a:p>
        </p:txBody>
      </p:sp>
      <p:sp>
        <p:nvSpPr>
          <p:cNvPr id="166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67" name="Table 3"/>
          <p:cNvGraphicFramePr/>
          <p:nvPr/>
        </p:nvGraphicFramePr>
        <p:xfrm>
          <a:off x="457200" y="1371600"/>
          <a:ext cx="11277296" cy="32004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BGPalerter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ARTEMIS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Route Sherlock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Real-time monitoring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Historical backtesting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Peer risk scoring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AI analysis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"Should I peer?"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No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Open source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Yes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 txBox="1"/>
          <p:nvPr/>
        </p:nvSpPr>
        <p:spPr>
          <a:xfrm>
            <a:off x="502919" y="365759"/>
            <a:ext cx="5712184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Practical Safeguards by Risk Level</a:t>
            </a:r>
          </a:p>
        </p:txBody>
      </p:sp>
      <p:sp>
        <p:nvSpPr>
          <p:cNvPr id="170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71" name="Table 3"/>
          <p:cNvGraphicFramePr/>
          <p:nvPr/>
        </p:nvGraphicFramePr>
        <p:xfrm>
          <a:off x="457200" y="1371600"/>
          <a:ext cx="11277296" cy="22860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Max-Prefix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IRR Filter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RPKI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LOW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2x announced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Standard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Warn on invalid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MODERATE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1.5x announced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Strict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Reject invalid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ELEVATED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1.2x announced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Strict + verify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Reject invalid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HIGH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Decline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N/A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N/A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"/>
          <p:cNvSpPr txBox="1"/>
          <p:nvPr/>
        </p:nvSpPr>
        <p:spPr>
          <a:xfrm>
            <a:off x="502919" y="365759"/>
            <a:ext cx="267708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Getting Started</a:t>
            </a:r>
          </a:p>
        </p:txBody>
      </p:sp>
      <p:sp>
        <p:nvSpPr>
          <p:cNvPr id="174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Rounded Rectangle 3"/>
          <p:cNvSpPr/>
          <p:nvPr/>
        </p:nvSpPr>
        <p:spPr>
          <a:xfrm>
            <a:off x="457200" y="1280160"/>
            <a:ext cx="11277296" cy="2286001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4"/>
          <p:cNvSpPr txBox="1"/>
          <p:nvPr/>
        </p:nvSpPr>
        <p:spPr>
          <a:xfrm>
            <a:off x="685800" y="1463038"/>
            <a:ext cx="10881361" cy="252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Install</a:t>
            </a:r>
            <a:br/>
            <a:r>
              <a:t>$ pip install route-sherlock</a:t>
            </a:r>
            <a:br/>
            <a:br/>
            <a:r>
              <a:t># For historical backtesting</a:t>
            </a:r>
            <a:br/>
            <a:r>
              <a:t>$ brew install bgpstream</a:t>
            </a:r>
            <a:br/>
            <a:r>
              <a:t>$ pip install pybgpstream</a:t>
            </a:r>
            <a:br/>
            <a:br/>
            <a:r>
              <a:t># Optional: AI synthesis</a:t>
            </a:r>
            <a:br/>
            <a:r>
              <a:t>$ export ANTHROPIC_API_KEY="your-key"</a:t>
            </a:r>
            <a:br/>
            <a:br/>
            <a:r>
              <a:t># Run</a:t>
            </a:r>
            <a:br/>
            <a:r>
              <a:t>$ route-sherlock peer-risk AS64500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 txBox="1"/>
          <p:nvPr/>
        </p:nvSpPr>
        <p:spPr>
          <a:xfrm>
            <a:off x="502919" y="365759"/>
            <a:ext cx="171485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179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3"/>
          <p:cNvSpPr txBox="1"/>
          <p:nvPr/>
        </p:nvSpPr>
        <p:spPr>
          <a:xfrm>
            <a:off x="502919" y="1280160"/>
            <a:ext cx="11185857" cy="2475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• Problem: No tool answers 'Should I peer with this ASN?'</a:t>
            </a:r>
          </a:p>
          <a:p>
            <a:pPr>
              <a:spcBef>
                <a:spcPts val="1200"/>
              </a:spcBef>
              <a:defRPr sz="2400"/>
            </a:pPr>
            <a:r>
              <a:t>• Solution: Route Sherlock - Peer Risk Intelligence</a:t>
            </a:r>
          </a:p>
          <a:p>
            <a:pPr>
              <a:spcBef>
                <a:spcPts val="1200"/>
              </a:spcBef>
              <a:defRPr sz="2400"/>
            </a:pPr>
            <a:r>
              <a:t>• How: RIPEstat + PeeringDB + BGPStream + AI</a:t>
            </a:r>
          </a:p>
          <a:p>
            <a:pPr>
              <a:spcBef>
                <a:spcPts val="1200"/>
              </a:spcBef>
              <a:defRPr sz="2400"/>
            </a:pPr>
            <a:r>
              <a:t>• Validated: Correctly flags networks involved in real incidents</a:t>
            </a:r>
          </a:p>
          <a:p>
            <a:pPr>
              <a:spcBef>
                <a:spcPts val="1200"/>
              </a:spcBef>
              <a:defRPr sz="2400"/>
            </a:pPr>
            <a:r>
              <a:t>• Practical: Outputs actionable recommendations</a:t>
            </a:r>
          </a:p>
        </p:txBody>
      </p:sp>
      <p:sp>
        <p:nvSpPr>
          <p:cNvPr id="181" name="Rectangle 4"/>
          <p:cNvSpPr/>
          <p:nvPr/>
        </p:nvSpPr>
        <p:spPr>
          <a:xfrm>
            <a:off x="457199" y="4023359"/>
            <a:ext cx="11277297" cy="731521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5"/>
          <p:cNvSpPr txBox="1"/>
          <p:nvPr/>
        </p:nvSpPr>
        <p:spPr>
          <a:xfrm>
            <a:off x="685800" y="4160520"/>
            <a:ext cx="573296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Try it: Score a network you're considering peering with today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 txBox="1"/>
          <p:nvPr/>
        </p:nvSpPr>
        <p:spPr>
          <a:xfrm>
            <a:off x="502919" y="365759"/>
            <a:ext cx="361985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333333"/>
                </a:solidFill>
              </a:defRPr>
            </a:lvl1pPr>
          </a:lstStyle>
          <a:p>
            <a:pPr/>
            <a:r>
              <a:t>Backup: Architecture</a:t>
            </a:r>
          </a:p>
        </p:txBody>
      </p:sp>
      <p:sp>
        <p:nvSpPr>
          <p:cNvPr id="185" name="Rectangle 2"/>
          <p:cNvSpPr/>
          <p:nvPr/>
        </p:nvSpPr>
        <p:spPr>
          <a:xfrm>
            <a:off x="457199" y="1005839"/>
            <a:ext cx="11277297" cy="5080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Rounded Rectangle 3"/>
          <p:cNvSpPr/>
          <p:nvPr/>
        </p:nvSpPr>
        <p:spPr>
          <a:xfrm>
            <a:off x="457200" y="1280160"/>
            <a:ext cx="11277296" cy="2286001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4"/>
          <p:cNvSpPr txBox="1"/>
          <p:nvPr/>
        </p:nvSpPr>
        <p:spPr>
          <a:xfrm>
            <a:off x="685800" y="1463038"/>
            <a:ext cx="10881361" cy="212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route_sherlock/</a:t>
            </a:r>
            <a:br/>
            <a:r>
              <a:t>├── cli/</a:t>
            </a:r>
            <a:br/>
            <a:r>
              <a:t>│   ├── main.py          # Typer CLI entry point</a:t>
            </a:r>
            <a:br/>
            <a:r>
              <a:t>│   └── commands.py      # Command implementations</a:t>
            </a:r>
            <a:br/>
            <a:r>
              <a:t>├── collectors/</a:t>
            </a:r>
            <a:br/>
            <a:r>
              <a:t>│   ├── ripestat.py      # RIPEstat API client</a:t>
            </a:r>
            <a:br/>
            <a:r>
              <a:t>│   ├── peeringdb.py     # PeeringDB API client</a:t>
            </a:r>
            <a:br/>
            <a:r>
              <a:t>│   └── bgpstream.py     # Historical BGP archives</a:t>
            </a:r>
            <a:br/>
            <a:r>
              <a:t>└── synthesis/</a:t>
            </a:r>
            <a:br/>
            <a:r>
              <a:t>    └── engine.py        # AI synthesis with Claude</a:t>
            </a:r>
          </a:p>
        </p:txBody>
      </p:sp>
      <p:sp>
        <p:nvSpPr>
          <p:cNvPr id="188" name="Rectangle 5"/>
          <p:cNvSpPr/>
          <p:nvPr/>
        </p:nvSpPr>
        <p:spPr>
          <a:xfrm>
            <a:off x="457199" y="3749038"/>
            <a:ext cx="11277297" cy="731522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6"/>
          <p:cNvSpPr txBox="1"/>
          <p:nvPr/>
        </p:nvSpPr>
        <p:spPr>
          <a:xfrm>
            <a:off x="685800" y="3886199"/>
            <a:ext cx="675463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Python 3.11+ | Rich terminal UI | pybgpstream for RouteViews/RIPE RIS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